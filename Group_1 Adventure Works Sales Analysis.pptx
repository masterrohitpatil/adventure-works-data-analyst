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71" r:id="rId9"/>
    <p:sldId id="272" r:id="rId10"/>
    <p:sldId id="266" r:id="rId11"/>
    <p:sldId id="267" r:id="rId12"/>
    <p:sldId id="269" r:id="rId13"/>
    <p:sldId id="270" r:id="rId14"/>
  </p:sldIdLst>
  <p:sldSz cx="12192000" cy="6858000"/>
  <p:notesSz cx="6858000" cy="9144000"/>
  <p:embeddedFontLs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Poppins SemiBold" panose="00000700000000000000" pitchFamily="2" charset="0"/>
      <p:bold r:id="rId20"/>
      <p:boldItalic r:id="rId21"/>
    </p:embeddedFont>
    <p:embeddedFont>
      <p:font typeface="Wingdings 3" panose="05040102010807070707" pitchFamily="18" charset="2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DBE5"/>
    <a:srgbClr val="D1E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52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67C584F7-BAB7-C2B1-E0EB-D78EEEEE7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>
            <a:extLst>
              <a:ext uri="{FF2B5EF4-FFF2-40B4-BE49-F238E27FC236}">
                <a16:creationId xmlns:a16="http://schemas.microsoft.com/office/drawing/2014/main" id="{15616D90-4285-BB2E-2B66-CF13737D94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8:notes">
            <a:extLst>
              <a:ext uri="{FF2B5EF4-FFF2-40B4-BE49-F238E27FC236}">
                <a16:creationId xmlns:a16="http://schemas.microsoft.com/office/drawing/2014/main" id="{4C48A55C-95FE-E92B-7461-C1B3A3555C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32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CF3EA191-FAB5-826A-2CE1-E02083C71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>
            <a:extLst>
              <a:ext uri="{FF2B5EF4-FFF2-40B4-BE49-F238E27FC236}">
                <a16:creationId xmlns:a16="http://schemas.microsoft.com/office/drawing/2014/main" id="{C4167D58-0003-2AA1-D0D5-9895FCA3FE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8:notes">
            <a:extLst>
              <a:ext uri="{FF2B5EF4-FFF2-40B4-BE49-F238E27FC236}">
                <a16:creationId xmlns:a16="http://schemas.microsoft.com/office/drawing/2014/main" id="{1384CE98-D5ED-2CFE-A2E5-0F2611F3A8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65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81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86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83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96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340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61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602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27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864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98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34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63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09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957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81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115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2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88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3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8.png"/><Relationship Id="rId5" Type="http://schemas.openxmlformats.org/officeDocument/2006/relationships/image" Target="../media/image27.png"/><Relationship Id="rId15" Type="http://schemas.openxmlformats.org/officeDocument/2006/relationships/image" Target="../media/image35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1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FEF3FE-A0E6-63A2-08FD-962AE96C7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2502" y="2101311"/>
            <a:ext cx="11144250" cy="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255699" y="1505998"/>
            <a:ext cx="3352800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38BDF8"/>
                </a:solidFill>
                <a:latin typeface="Times New Roman" panose="02020603050405020304" pitchFamily="18" charset="0"/>
                <a:ea typeface="Inter SemiBold"/>
                <a:cs typeface="Times New Roman" panose="02020603050405020304" pitchFamily="18" charset="0"/>
                <a:sym typeface="Inter SemiBold"/>
              </a:rPr>
              <a:t>DATA ANALYTICS ACADEMIC PROJECT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60205" y="2353724"/>
            <a:ext cx="10516314" cy="669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Adventure Works Sales Performance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3355181"/>
            <a:ext cx="7620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bg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 Multi-Platform Business Intelligence Case Study utilizing SQL Server, Excel Power Pivot, Tableau, and Power BI reporting engines.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3867150" y="4202906"/>
            <a:ext cx="4457700" cy="952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302818" y="4444290"/>
            <a:ext cx="15863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Group 1</a:t>
            </a:r>
            <a:endParaRPr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676650" y="4698206"/>
            <a:ext cx="48387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Rohit  • Vaibhav • Gagan • Deekhshith • Kavitha • Samita • Shraddha</a:t>
            </a:r>
            <a:endParaRPr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FC9354-DD76-BEA5-ABF6-D7F4F17E4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350" y="1475116"/>
            <a:ext cx="5429250" cy="45116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535502"/>
            <a:ext cx="5429250" cy="44512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875" y="428625"/>
            <a:ext cx="11144250" cy="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110" y="165258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195387" y="1709710"/>
            <a:ext cx="52006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sng" strike="noStrike" cap="none" dirty="0">
                <a:solidFill>
                  <a:srgbClr val="2563EB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The Problem Context</a:t>
            </a:r>
            <a:endParaRPr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15088" y="1649971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981825" y="1709710"/>
            <a:ext cx="52006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sng" strike="noStrike" cap="none" dirty="0">
                <a:solidFill>
                  <a:srgbClr val="2563EB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Technical Scope</a:t>
            </a:r>
            <a:endParaRPr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457950" y="2321050"/>
            <a:ext cx="4953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This engineering project implements a complete pipeline utilizing a multi-tiered environment: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1410" y="17668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15100" y="1764271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705959" y="3093525"/>
            <a:ext cx="4686300" cy="609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MySQL Engine:</a:t>
            </a:r>
            <a:r>
              <a:rPr lang="en-US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Heavy-duty queries, ETL mappings and table staging.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705959" y="3758779"/>
            <a:ext cx="46863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Excel Power Pivot:</a:t>
            </a:r>
            <a:r>
              <a:rPr lang="en-US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Relational model design and core KPI evaluations.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6705959" y="4408280"/>
            <a:ext cx="46863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Tableau &amp; Power BI:</a:t>
            </a:r>
            <a:r>
              <a:rPr lang="en-US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High fidelity analytical dashboard architectures.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48784" y="3201736"/>
            <a:ext cx="123825" cy="157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64329" y="3884830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48784" y="4515033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514350" y="616863"/>
            <a:ext cx="11668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sng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Project Overview</a:t>
            </a:r>
            <a:endParaRPr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E7AA53E-3734-B070-7A56-6CA97EDF5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105" y="2321050"/>
            <a:ext cx="541712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Fragmentation: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Adventure Works Cycles handles massive, un-consolidated historical internet sales records spanning multiple years and formats.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Visibility: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Executive decision-makers lack a unified, multi-dimensional view of regional sales trends and shifting customer demographics.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 Inefficiencies: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Without interactive tracking, identifying regional performance bottlenecks and inventory bottlenecks is slow and reactive.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71E206-569F-6384-8683-7F8D0024E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428625"/>
            <a:ext cx="11144250" cy="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960404" y="1257623"/>
            <a:ext cx="570071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sng" strike="noStrike" cap="none" dirty="0">
                <a:solidFill>
                  <a:srgbClr val="2563EB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Target Business Metrics</a:t>
            </a:r>
            <a:endParaRPr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962784" y="1752500"/>
            <a:ext cx="807148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The core directive of our analytical modeling is to deliver functional, high-fidelity visual assets that allow decision-makers to track sales health in real time.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227104" y="2875823"/>
            <a:ext cx="5162550" cy="738664"/>
          </a:xfrm>
          <a:prstGeom prst="rect">
            <a:avLst/>
          </a:prstGeom>
          <a:gradFill flip="none" rotWithShape="1">
            <a:gsLst>
              <a:gs pos="0">
                <a:srgbClr val="D1E6F7"/>
              </a:gs>
              <a:gs pos="50000">
                <a:schemeClr val="bg1">
                  <a:alpha val="61000"/>
                  <a:lumMod val="98000"/>
                </a:schemeClr>
              </a:gs>
              <a:gs pos="100000">
                <a:srgbClr val="F9DBE5"/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Identify Performance Vectors:</a:t>
            </a:r>
            <a:r>
              <a:rPr lang="en-US" sz="1600" b="0" i="0" u="none" strike="noStrike" cap="none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Track quarterly net revenues, localized profit contributions, and baseline overhead values.</a:t>
            </a:r>
            <a:endParaRPr sz="18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1229485" y="4082405"/>
            <a:ext cx="5162550" cy="738664"/>
          </a:xfrm>
          <a:prstGeom prst="rect">
            <a:avLst/>
          </a:prstGeom>
          <a:gradFill flip="none" rotWithShape="1">
            <a:gsLst>
              <a:gs pos="0">
                <a:srgbClr val="D1E6F7"/>
              </a:gs>
              <a:gs pos="50000">
                <a:schemeClr val="bg1">
                  <a:alpha val="61000"/>
                  <a:lumMod val="98000"/>
                </a:schemeClr>
              </a:gs>
              <a:gs pos="100000">
                <a:srgbClr val="F9DBE5"/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Improve Customer Targeting:</a:t>
            </a:r>
            <a:r>
              <a:rPr lang="en-US" sz="1600" b="0" i="0" u="none" strike="noStrike" cap="none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Segment target buyer behaviors across nations and distinct gender profiles.</a:t>
            </a:r>
            <a:endParaRPr sz="18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1229485" y="5288987"/>
            <a:ext cx="5162550" cy="738664"/>
          </a:xfrm>
          <a:prstGeom prst="rect">
            <a:avLst/>
          </a:prstGeom>
          <a:gradFill flip="none" rotWithShape="1">
            <a:gsLst>
              <a:gs pos="0">
                <a:srgbClr val="D1E6F7"/>
              </a:gs>
              <a:gs pos="50000">
                <a:schemeClr val="bg1">
                  <a:alpha val="61000"/>
                  <a:lumMod val="98000"/>
                </a:schemeClr>
              </a:gs>
              <a:gs pos="100000">
                <a:srgbClr val="F9DBE5"/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Integrate Insights:</a:t>
            </a:r>
            <a:r>
              <a:rPr lang="en-US" sz="1600" b="0" i="0" u="none" strike="noStrike" cap="none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Ensure identical reporting logic is implemented flawlessly across our analytical suites.</a:t>
            </a:r>
            <a:endParaRPr sz="18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8" name="Google Shape;12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0404" y="3045504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784" y="4234263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783" y="545750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523873" y="512326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sng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Strategic Objective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D955DD-6CBA-0AC1-66DF-191F25976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101" y="1966912"/>
            <a:ext cx="2678906" cy="23860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13033" y="3030081"/>
            <a:ext cx="2678906" cy="23860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51125" y="1966912"/>
            <a:ext cx="2678906" cy="23860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5057" y="3030081"/>
            <a:ext cx="2678906" cy="23860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3875" y="428625"/>
            <a:ext cx="11144250" cy="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49004" y="220503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1110162" y="2783859"/>
            <a:ext cx="129678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SQL Server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57226" y="3186112"/>
            <a:ext cx="2202656" cy="92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64748B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Structured raw transactional data tables, mutated schema structures, performed joins across entities, and established indices to accelerate querying throughput.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42936" y="3268206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3862387" y="3877806"/>
            <a:ext cx="158019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Excel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3551158" y="4249281"/>
            <a:ext cx="2202656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Modeled initial multi-entity table connections, built calculated column formulations, and engineered core corporate KPIs using dynamic pivot charts.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81028" y="220503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7105530" y="2814637"/>
            <a:ext cx="77009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Tableau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6389250" y="3186112"/>
            <a:ext cx="2202656" cy="92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Deployed sophisticated interactive reports utilizing dynamic geo-spatial Mapbox mapping to evaluate performance distribution at region and city levels.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174960" y="3268206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9228116" y="3877806"/>
            <a:ext cx="231278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Power BI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9283182" y="4249281"/>
            <a:ext cx="220265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Crafted fully responsive enterprise dashboards featuring active cross-filtering and synchronized slicers for high-volume transactions analysis.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4" name="Google Shape;154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668066" y="2309812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571523" y="3372981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395328" y="231933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279735" y="3372981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523875" y="476250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sng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Tools Used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D8B386-8304-3694-7D11-79619C11E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26"/>
            <a:ext cx="12191999" cy="6858000"/>
          </a:xfrm>
          <a:prstGeom prst="rect">
            <a:avLst/>
          </a:prstGeom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1052729" y="1487246"/>
            <a:ext cx="4166251" cy="1164304"/>
          </a:xfrm>
          <a:prstGeom prst="rect">
            <a:avLst/>
          </a:prstGeom>
          <a:gradFill flip="none" rotWithShape="1">
            <a:gsLst>
              <a:gs pos="0">
                <a:srgbClr val="D1E6F7"/>
              </a:gs>
              <a:gs pos="50000">
                <a:schemeClr val="bg1">
                  <a:alpha val="61000"/>
                  <a:lumMod val="98000"/>
                </a:schemeClr>
              </a:gs>
              <a:gs pos="100000">
                <a:srgbClr val="F9DBE5"/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5"/>
          <a:srcRect/>
          <a:stretch/>
        </p:blipFill>
        <p:spPr>
          <a:xfrm>
            <a:off x="1052730" y="2843479"/>
            <a:ext cx="4166251" cy="1207386"/>
          </a:xfrm>
          <a:prstGeom prst="rect">
            <a:avLst/>
          </a:prstGeom>
          <a:gradFill flip="none" rotWithShape="1">
            <a:gsLst>
              <a:gs pos="0">
                <a:srgbClr val="D1E6F7"/>
              </a:gs>
              <a:gs pos="50000">
                <a:schemeClr val="bg1">
                  <a:alpha val="61000"/>
                  <a:lumMod val="98000"/>
                </a:schemeClr>
              </a:gs>
              <a:gs pos="100000">
                <a:srgbClr val="F9DBE5"/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1052730" y="4231185"/>
            <a:ext cx="4166251" cy="1207386"/>
          </a:xfrm>
          <a:prstGeom prst="rect">
            <a:avLst/>
          </a:prstGeom>
          <a:gradFill flip="none" rotWithShape="1">
            <a:gsLst>
              <a:gs pos="0">
                <a:srgbClr val="D1E6F7"/>
              </a:gs>
              <a:gs pos="50000">
                <a:schemeClr val="bg1">
                  <a:alpha val="61000"/>
                  <a:lumMod val="98000"/>
                </a:schemeClr>
              </a:gs>
              <a:gs pos="100000">
                <a:srgbClr val="F9DBE5"/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6"/>
          <a:srcRect/>
          <a:stretch/>
        </p:blipFill>
        <p:spPr>
          <a:xfrm>
            <a:off x="5633143" y="1982280"/>
            <a:ext cx="4730590" cy="1402533"/>
          </a:xfrm>
          <a:prstGeom prst="rect">
            <a:avLst/>
          </a:prstGeom>
          <a:gradFill flip="none" rotWithShape="1">
            <a:gsLst>
              <a:gs pos="0">
                <a:srgbClr val="D1E6F7"/>
              </a:gs>
              <a:gs pos="50000">
                <a:schemeClr val="bg1">
                  <a:alpha val="61000"/>
                  <a:lumMod val="98000"/>
                </a:schemeClr>
              </a:gs>
              <a:gs pos="100000">
                <a:srgbClr val="F9DBE5"/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6"/>
          <a:srcRect/>
          <a:stretch/>
        </p:blipFill>
        <p:spPr>
          <a:xfrm>
            <a:off x="5633142" y="3705400"/>
            <a:ext cx="4730591" cy="1402533"/>
          </a:xfrm>
          <a:prstGeom prst="rect">
            <a:avLst/>
          </a:prstGeom>
          <a:gradFill flip="none" rotWithShape="1">
            <a:gsLst>
              <a:gs pos="0">
                <a:srgbClr val="D1E6F7"/>
              </a:gs>
              <a:gs pos="50000">
                <a:schemeClr val="bg1">
                  <a:alpha val="61000"/>
                  <a:lumMod val="98000"/>
                </a:schemeClr>
              </a:gs>
              <a:gs pos="100000">
                <a:srgbClr val="F9DBE5"/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3875" y="428625"/>
            <a:ext cx="11144250" cy="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80891" y="1579019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83154" y="292450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86484" y="4314068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61304" y="2074053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61304" y="389576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304716" y="1693319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1742866" y="1579019"/>
            <a:ext cx="279691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KPI-1 &amp; KPI-2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739338" y="1853103"/>
            <a:ext cx="26637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563EB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Yearly &amp; Monthly Sales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1739336" y="2106371"/>
            <a:ext cx="329848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Tracks longitudinal performance curves and seasonal spikes across transaction histories.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9" name="Google Shape;179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83167" y="3038807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1742710" y="2927530"/>
            <a:ext cx="27970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KPI-3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1739338" y="3211620"/>
            <a:ext cx="26638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563EB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Quarterly Sales Performance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1739336" y="3462604"/>
            <a:ext cx="329848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Segments sales velocity into distinct quarterly phases to measure periodic trajectory metrics.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3" name="Google Shape;183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300784" y="4428368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1742866" y="4323458"/>
            <a:ext cx="279691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KPI-4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1739338" y="4621398"/>
            <a:ext cx="26637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563EB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Country-wise Performance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1739338" y="4910433"/>
            <a:ext cx="310138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Illustrates geo-spatial market dominance and traces regional revenue density shifts.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7" name="Google Shape;187;p17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851791" y="2188353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 txBox="1"/>
          <p:nvPr/>
        </p:nvSpPr>
        <p:spPr>
          <a:xfrm>
            <a:off x="6308566" y="2068148"/>
            <a:ext cx="473059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</a:defRPr>
            </a:lvl1pPr>
          </a:lstStyle>
          <a:p>
            <a:r>
              <a:rPr lang="en-US" sz="2000" dirty="0">
                <a:sym typeface="Poppins SemiBold"/>
              </a:rPr>
              <a:t>KPI-5</a:t>
            </a:r>
            <a:endParaRPr sz="2000" dirty="0"/>
          </a:p>
        </p:txBody>
      </p:sp>
      <p:sp>
        <p:nvSpPr>
          <p:cNvPr id="189" name="Google Shape;189;p17"/>
          <p:cNvSpPr txBox="1"/>
          <p:nvPr/>
        </p:nvSpPr>
        <p:spPr>
          <a:xfrm>
            <a:off x="6308562" y="2364923"/>
            <a:ext cx="45053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563EB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Gender-wise Distributions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6323279" y="2650531"/>
            <a:ext cx="347632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Deconstructs demographic sales splits to analyze purchase behaviors of target customer personas.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1" name="Google Shape;191;p17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851791" y="4010062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 txBox="1"/>
          <p:nvPr/>
        </p:nvSpPr>
        <p:spPr>
          <a:xfrm>
            <a:off x="6308565" y="3889857"/>
            <a:ext cx="473059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KPI-6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308564" y="4194204"/>
            <a:ext cx="45053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563EB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Monthly Cost vs Profit Amount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6308564" y="4470994"/>
            <a:ext cx="372764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Benchmarks operational gross production cost allocations against net profits month over month.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523875" y="548996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sng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Dashboard KPIs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457FA2-5EB3-09DA-D774-5D1CEB142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13" name="Google Shape;213;p18"/>
          <p:cNvSpPr txBox="1"/>
          <p:nvPr/>
        </p:nvSpPr>
        <p:spPr>
          <a:xfrm>
            <a:off x="523875" y="512460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sng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Excel Dashboard Platform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169;p17" descr="image.png">
            <a:extLst>
              <a:ext uri="{FF2B5EF4-FFF2-40B4-BE49-F238E27FC236}">
                <a16:creationId xmlns:a16="http://schemas.microsoft.com/office/drawing/2014/main" id="{662E02F5-E3A7-5F89-1F7C-6E857CE4BFD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428625"/>
            <a:ext cx="11144250" cy="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15CF92-2A20-7DE6-CFCE-CCF0F9A2D1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77"/>
          <a:stretch>
            <a:fillRect/>
          </a:stretch>
        </p:blipFill>
        <p:spPr>
          <a:xfrm>
            <a:off x="971909" y="1147313"/>
            <a:ext cx="10248180" cy="54737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458BDB5-0C49-1413-7EFC-367ADCF85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239" name="Google Shape;23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428625"/>
            <a:ext cx="11144250" cy="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/>
          <p:cNvSpPr txBox="1"/>
          <p:nvPr/>
        </p:nvSpPr>
        <p:spPr>
          <a:xfrm>
            <a:off x="523875" y="553888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sng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SQL QUERIES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17822D-F343-6934-ADD4-472EBB7AEC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76" y="1110207"/>
            <a:ext cx="3865607" cy="55963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D07B6A-BAAD-DB35-9211-FAD79F45CE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1916" y="1110205"/>
            <a:ext cx="3826622" cy="55963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3D72E4-6BBA-3610-9FBA-8814AECBAB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0417" y="1110205"/>
            <a:ext cx="3891165" cy="55963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B645A3D8-1D46-3642-C889-138FEAB9C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4D95985-5AAF-3DDE-EEC1-C2D16F582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239" name="Google Shape;239;p20" descr="image.png">
            <a:extLst>
              <a:ext uri="{FF2B5EF4-FFF2-40B4-BE49-F238E27FC236}">
                <a16:creationId xmlns:a16="http://schemas.microsoft.com/office/drawing/2014/main" id="{BA36952B-0FA1-C363-F850-53A6F1D8BF8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428625"/>
            <a:ext cx="11144250" cy="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>
            <a:extLst>
              <a:ext uri="{FF2B5EF4-FFF2-40B4-BE49-F238E27FC236}">
                <a16:creationId xmlns:a16="http://schemas.microsoft.com/office/drawing/2014/main" id="{3BB5CACF-06C3-8991-E6A9-4553FAD70CCE}"/>
              </a:ext>
            </a:extLst>
          </p:cNvPr>
          <p:cNvSpPr txBox="1"/>
          <p:nvPr/>
        </p:nvSpPr>
        <p:spPr>
          <a:xfrm>
            <a:off x="523875" y="553888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sng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SQL QUERIES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051A1-6761-3993-AF8B-8C6CF7DABC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335" y="1023940"/>
            <a:ext cx="5549121" cy="55420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31EEB4-FE2D-1EC6-16C3-8BD8A60A41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803" y="1023939"/>
            <a:ext cx="5533849" cy="55420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8303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C1EAFE20-D44C-0256-1BD8-D14AC312E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1B646C-5457-1597-49B0-CE7112C1A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239" name="Google Shape;239;p20" descr="image.png">
            <a:extLst>
              <a:ext uri="{FF2B5EF4-FFF2-40B4-BE49-F238E27FC236}">
                <a16:creationId xmlns:a16="http://schemas.microsoft.com/office/drawing/2014/main" id="{96A5E65C-B29F-E4CB-C685-C29ED1D9CC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428625"/>
            <a:ext cx="11144250" cy="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>
            <a:extLst>
              <a:ext uri="{FF2B5EF4-FFF2-40B4-BE49-F238E27FC236}">
                <a16:creationId xmlns:a16="http://schemas.microsoft.com/office/drawing/2014/main" id="{E218027F-E6B4-9A62-341C-8CFCD7110ADF}"/>
              </a:ext>
            </a:extLst>
          </p:cNvPr>
          <p:cNvSpPr txBox="1"/>
          <p:nvPr/>
        </p:nvSpPr>
        <p:spPr>
          <a:xfrm>
            <a:off x="523875" y="553888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sng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SQL QUERIES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98C51B-7712-7BB2-2073-745F6B1C2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7875" y="946303"/>
            <a:ext cx="5860123" cy="57059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2136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D8C866-2889-9046-D856-2361D3A09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295" name="Google Shape;29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428625"/>
            <a:ext cx="11144250" cy="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3"/>
          <p:cNvSpPr txBox="1"/>
          <p:nvPr/>
        </p:nvSpPr>
        <p:spPr>
          <a:xfrm>
            <a:off x="523875" y="545261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sng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Tableau Spatial Analytics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DF8E54-E906-B14A-D2A8-805DFC004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908" y="1203178"/>
            <a:ext cx="10248181" cy="54078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D10001-744A-D070-BEBD-6C19FFE69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16" name="Google Shape;31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428625"/>
            <a:ext cx="11144250" cy="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4"/>
          <p:cNvSpPr txBox="1"/>
          <p:nvPr/>
        </p:nvSpPr>
        <p:spPr>
          <a:xfrm>
            <a:off x="523875" y="553888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sng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Power BI Reporting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8D1D3B-293B-7D12-8289-180AAB4B4EC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05" t="705" r="47"/>
          <a:stretch>
            <a:fillRect/>
          </a:stretch>
        </p:blipFill>
        <p:spPr>
          <a:xfrm>
            <a:off x="971908" y="1193261"/>
            <a:ext cx="10248181" cy="54177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6A9B33-BE71-C72A-CDDF-0C1D3986D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52" name="Google Shape;35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428625"/>
            <a:ext cx="11144250" cy="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6"/>
          <p:cNvSpPr txBox="1"/>
          <p:nvPr/>
        </p:nvSpPr>
        <p:spPr>
          <a:xfrm>
            <a:off x="790575" y="1240475"/>
            <a:ext cx="92583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Outstanding Sales Volume: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Dashboards reveal a robust gross generation value of </a:t>
            </a:r>
            <a:r>
              <a:rPr lang="en-US" sz="1600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$29.4M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over the tracked historical timeline.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4" name="Google Shape;354;p26"/>
          <p:cNvSpPr txBox="1"/>
          <p:nvPr/>
        </p:nvSpPr>
        <p:spPr>
          <a:xfrm>
            <a:off x="790575" y="1979139"/>
            <a:ext cx="92583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Highly Concentrated Revenue: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The United States represents the dominant geographic sales engine with </a:t>
            </a:r>
            <a:r>
              <a:rPr lang="en-US" sz="1600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$9.39M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in total sales, followed by the United Kingdom with $3.39M.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5" name="Google Shape;355;p26"/>
          <p:cNvSpPr txBox="1"/>
          <p:nvPr/>
        </p:nvSpPr>
        <p:spPr>
          <a:xfrm>
            <a:off x="790575" y="2783911"/>
            <a:ext cx="92583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Dynamic Seasonal Cycles: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Volume trends highlight a robust monthly sales curve peaking in June (</a:t>
            </a:r>
            <a:r>
              <a:rPr lang="en-US" sz="1600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$2.94M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) and late Q4 (</a:t>
            </a:r>
            <a:r>
              <a:rPr lang="en-US" sz="1600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$3.21M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in December).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6" name="Google Shape;356;p26"/>
          <p:cNvSpPr txBox="1"/>
          <p:nvPr/>
        </p:nvSpPr>
        <p:spPr>
          <a:xfrm>
            <a:off x="790575" y="3522575"/>
            <a:ext cx="92583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Healthy Profitability Margins: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The enterprise maintained excellent profitability metrics, yielding </a:t>
            </a:r>
            <a:r>
              <a:rPr lang="en-US" sz="1600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$12.1M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in net profit margins against total production costs of $17.3M.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7" name="Google Shape;357;p26"/>
          <p:cNvSpPr txBox="1"/>
          <p:nvPr/>
        </p:nvSpPr>
        <p:spPr>
          <a:xfrm>
            <a:off x="790575" y="4261239"/>
            <a:ext cx="92583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Unified Database Architecture: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Normalizing transactional staging schemas in SQL secured absolute numeric parity across Excel, Tableau, and Power BI analytics platforms.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8" name="Google Shape;358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875" y="137522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875" y="210044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9303" y="292391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9971" y="438212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875" y="3682915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6"/>
          <p:cNvSpPr txBox="1"/>
          <p:nvPr/>
        </p:nvSpPr>
        <p:spPr>
          <a:xfrm>
            <a:off x="523875" y="533400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sng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Project Conclusions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E2F8D4-26E2-EBEC-AEE3-05BDD0A41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pic>
        <p:nvPicPr>
          <p:cNvPr id="369" name="Google Shape;36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2305050"/>
            <a:ext cx="11144250" cy="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7"/>
          <p:cNvSpPr txBox="1"/>
          <p:nvPr/>
        </p:nvSpPr>
        <p:spPr>
          <a:xfrm>
            <a:off x="4376712" y="1818400"/>
            <a:ext cx="34386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8BDF8"/>
                </a:solidFill>
                <a:latin typeface="Times New Roman" panose="02020603050405020304" pitchFamily="18" charset="0"/>
                <a:ea typeface="Inter SemiBold"/>
                <a:cs typeface="Times New Roman" panose="02020603050405020304" pitchFamily="18" charset="0"/>
                <a:sym typeface="Inter SemiBold"/>
              </a:rPr>
              <a:t>ADVENTURE WORKS SALES ANALYSIS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1" name="Google Shape;371;p27"/>
          <p:cNvSpPr txBox="1"/>
          <p:nvPr/>
        </p:nvSpPr>
        <p:spPr>
          <a:xfrm>
            <a:off x="4215149" y="2891425"/>
            <a:ext cx="3761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Thank You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2" name="Google Shape;372;p27"/>
          <p:cNvSpPr/>
          <p:nvPr/>
        </p:nvSpPr>
        <p:spPr>
          <a:xfrm>
            <a:off x="4145756" y="3829050"/>
            <a:ext cx="3900487" cy="952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Google Shape;90;p13">
            <a:extLst>
              <a:ext uri="{FF2B5EF4-FFF2-40B4-BE49-F238E27FC236}">
                <a16:creationId xmlns:a16="http://schemas.microsoft.com/office/drawing/2014/main" id="{8DA64AC9-943F-CA68-039B-33F11E5E1BB6}"/>
              </a:ext>
            </a:extLst>
          </p:cNvPr>
          <p:cNvSpPr txBox="1"/>
          <p:nvPr/>
        </p:nvSpPr>
        <p:spPr>
          <a:xfrm>
            <a:off x="5302817" y="3915092"/>
            <a:ext cx="158636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4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Group 1</a:t>
            </a:r>
            <a:endParaRPr sz="28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221</TotalTime>
  <Words>566</Words>
  <Application>Microsoft Office PowerPoint</Application>
  <PresentationFormat>Widescreen</PresentationFormat>
  <Paragraphs>63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Wingdings 3</vt:lpstr>
      <vt:lpstr>Century Gothic</vt:lpstr>
      <vt:lpstr>Times New Roman</vt:lpstr>
      <vt:lpstr>Calibri</vt:lpstr>
      <vt:lpstr>Poppins SemiBold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Rohit Patil</dc:creator>
  <cp:lastModifiedBy>Rohit Patil</cp:lastModifiedBy>
  <cp:revision>9</cp:revision>
  <dcterms:modified xsi:type="dcterms:W3CDTF">2026-07-07T05:26:17Z</dcterms:modified>
</cp:coreProperties>
</file>